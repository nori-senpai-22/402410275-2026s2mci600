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2E3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3A2E39"/>
                </a:solidFill>
                <a:latin typeface="Calibri"/>
              </a:rPr>
              <a:t>Cumulative Explained Variance by Component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Variance</c:v>
                </c:pt>
              </c:strCache>
            </c:strRef>
          </c:tx>
          <c:spPr>
            <a:solidFill>
              <a:srgbClr val="5EC8A6"/>
            </a:solidFill>
            <a:ln w="31750" cap="flat">
              <a:solidFill>
                <a:srgbClr val="5EC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5EC8A6"/>
              </a:solidFill>
              <a:ln w="9525" cap="flat">
                <a:solidFill>
                  <a:srgbClr val="5EC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10.4</c:v>
                </c:pt>
                <c:pt idx="1">
                  <c:v>19.8</c:v>
                </c:pt>
                <c:pt idx="2">
                  <c:v>27.3</c:v>
                </c:pt>
                <c:pt idx="3">
                  <c:v>34.1</c:v>
                </c:pt>
                <c:pt idx="4">
                  <c:v>39.9</c:v>
                </c:pt>
                <c:pt idx="5">
                  <c:v>45.4</c:v>
                </c:pt>
                <c:pt idx="6">
                  <c:v>50.9</c:v>
                </c:pt>
                <c:pt idx="7">
                  <c:v>56.2</c:v>
                </c:pt>
                <c:pt idx="8">
                  <c:v>61.3</c:v>
                </c:pt>
                <c:pt idx="9">
                  <c:v>66.3</c:v>
                </c:pt>
                <c:pt idx="10">
                  <c:v>71.1</c:v>
                </c:pt>
                <c:pt idx="11">
                  <c:v>75.7</c:v>
                </c:pt>
                <c:pt idx="12">
                  <c:v>80.3</c:v>
                </c:pt>
                <c:pt idx="13">
                  <c:v>84.8</c:v>
                </c:pt>
                <c:pt idx="14">
                  <c:v>88.9</c:v>
                </c:pt>
                <c:pt idx="15">
                  <c:v>92.8</c:v>
                </c:pt>
                <c:pt idx="16">
                  <c:v>95.4</c:v>
                </c:pt>
                <c:pt idx="17">
                  <c:v>97.5</c:v>
                </c:pt>
                <c:pt idx="18">
                  <c:v>98.3</c:v>
                </c:pt>
                <c:pt idx="19">
                  <c:v>99.2</c:v>
                </c:pt>
                <c:pt idx="20">
                  <c:v>99.7</c:v>
                </c:pt>
                <c:pt idx="21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768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A7688"/>
                    </a:solidFill>
                    <a:latin typeface="Arial"/>
                  </a:rPr>
                  <a:t>Number of Components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6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768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A7688"/>
                    </a:solidFill>
                    <a:latin typeface="Arial"/>
                  </a:rPr>
                  <a:t>Cumulative Variance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6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A2E39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3A2E39"/>
                </a:solidFill>
                <a:latin typeface="Calibri"/>
              </a:rPr>
              <a:t>F1-score by Model (Before PCA)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5EC8A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2E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
Regression</c:v>
                  </c:pt>
                  <c:pt idx="1">
                    <c:v>k-Nearest
Neighbours</c:v>
                  </c:pt>
                  <c:pt idx="2">
                    <c:v>Decision
Tree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0.6437</c:v>
                </c:pt>
                <c:pt idx="1">
                  <c:v>0.7255</c:v>
                </c:pt>
                <c:pt idx="2">
                  <c:v>0.7537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3A2E3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3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6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A2E39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3A2E39"/>
                </a:solidFill>
                <a:latin typeface="Calibri"/>
              </a:rPr>
              <a:t>F1-score: Before vs After PCA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PCA</c:v>
                </c:pt>
              </c:strCache>
            </c:strRef>
          </c:tx>
          <c:spPr>
            <a:solidFill>
              <a:srgbClr val="9C6B9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3A2E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k-Nearest Neighbours</c:v>
                  </c:pt>
                  <c:pt idx="2">
                    <c:v>Decision Tree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0.6437</c:v>
                </c:pt>
                <c:pt idx="1">
                  <c:v>0.7255</c:v>
                </c:pt>
                <c:pt idx="2">
                  <c:v>0.7537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PCA</c:v>
                </c:pt>
              </c:strCache>
            </c:strRef>
          </c:tx>
          <c:spPr>
            <a:solidFill>
              <a:srgbClr val="5EC8A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3A2E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k-Nearest Neighbours</c:v>
                  </c:pt>
                  <c:pt idx="2">
                    <c:v>Decision Tree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0.6245</c:v>
                </c:pt>
                <c:pt idx="1">
                  <c:v>0.7193</c:v>
                </c:pt>
                <c:pt idx="2">
                  <c:v>0.6639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50" u="none">
                  <a:solidFill>
                    <a:srgbClr val="3A2E3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3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6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2E3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C6B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274320"/>
            <a:ext cx="1463040" cy="14630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4389120"/>
            <a:ext cx="2011680" cy="20116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5120640"/>
            <a:ext cx="1828800" cy="18288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-548640"/>
            <a:ext cx="1188720" cy="118872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500116" y="1371600"/>
            <a:ext cx="1188720" cy="1188720"/>
          </a:xfrm>
          <a:prstGeom prst="ellipse">
            <a:avLst/>
          </a:prstGeom>
          <a:solidFill>
            <a:srgbClr val="5EC8A6"/>
          </a:solidFill>
          <a:ln/>
        </p:spPr>
      </p:sp>
      <p:pic>
        <p:nvPicPr>
          <p:cNvPr id="7" name="Image 0" descr="icons/tit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7296" y="1668780"/>
            <a:ext cx="594360" cy="5943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283464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Credit Risk Prediction System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388620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7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to spot high-risk loan applicants before they become losses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59836" y="5806440"/>
            <a:ext cx="5669280" cy="502920"/>
          </a:xfrm>
          <a:prstGeom prst="roundRect">
            <a:avLst>
              <a:gd name="adj" fmla="val 50909"/>
            </a:avLst>
          </a:prstGeom>
          <a:solidFill>
            <a:srgbClr val="5B3A5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259836" y="58064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B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600  •  RICHFIELD GRADUATE INSTITUTE OF TECHNOLOGY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5EC8A6"/>
          </a:solidFill>
          <a:ln/>
        </p:spPr>
      </p:sp>
      <p:pic>
        <p:nvPicPr>
          <p:cNvPr id="3" name="Image 0" descr="icons/problem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6784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3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company's current credit approval system relies on fixed rules. Real repayment behaviour doesn't follow straight lines — so the rulebook keeps making two expensive mistakes.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5166360" cy="3291840"/>
          </a:xfrm>
          <a:prstGeom prst="roundRect">
            <a:avLst>
              <a:gd name="adj" fmla="val 5000"/>
            </a:avLst>
          </a:prstGeom>
          <a:solidFill>
            <a:srgbClr val="FBE4E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27889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C6B9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False Approvals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8328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applicants get approved anyway.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9834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5EC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Direct financial losses from defaults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2468880"/>
            <a:ext cx="5166360" cy="3291840"/>
          </a:xfrm>
          <a:prstGeom prst="roundRect">
            <a:avLst>
              <a:gd name="adj" fmla="val 5000"/>
            </a:avLst>
          </a:prstGeom>
          <a:solidFill>
            <a:srgbClr val="FBE4E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29400" y="27889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C6B9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False Rejections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338328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Low-risk, safe applicants get turned away.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49834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5EC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Lost business &amp; poor customer experience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5EC8A6"/>
          </a:solidFill>
          <a:ln/>
        </p:spPr>
      </p:sp>
      <p:pic>
        <p:nvPicPr>
          <p:cNvPr id="3" name="Image 0" descr="icons/datas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6784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3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Dataset (Kaggle) — real loan applicant records used to train and test the models.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5236" y="2377440"/>
            <a:ext cx="3291840" cy="2286000"/>
          </a:xfrm>
          <a:prstGeom prst="roundRect">
            <a:avLst>
              <a:gd name="adj" fmla="val 7200"/>
            </a:avLst>
          </a:prstGeom>
          <a:solidFill>
            <a:srgbClr val="FBE4E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5236" y="26060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C6B9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32,580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973836" y="36118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48556" y="2377440"/>
            <a:ext cx="3291840" cy="2286000"/>
          </a:xfrm>
          <a:prstGeom prst="roundRect">
            <a:avLst>
              <a:gd name="adj" fmla="val 7200"/>
            </a:avLst>
          </a:prstGeom>
          <a:solidFill>
            <a:srgbClr val="FBE4E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48556" y="26060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C6B9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4200" dirty="0"/>
          </a:p>
        </p:txBody>
      </p:sp>
      <p:sp>
        <p:nvSpPr>
          <p:cNvPr id="11" name="Text 8"/>
          <p:cNvSpPr txBox="1"/>
          <p:nvPr/>
        </p:nvSpPr>
        <p:spPr>
          <a:xfrm>
            <a:off x="4677156" y="36118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record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51876" y="2377440"/>
            <a:ext cx="3291840" cy="2286000"/>
          </a:xfrm>
          <a:prstGeom prst="roundRect">
            <a:avLst>
              <a:gd name="adj" fmla="val 7200"/>
            </a:avLst>
          </a:prstGeom>
          <a:solidFill>
            <a:srgbClr val="FBE4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51876" y="26060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C6B9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21.8%</a:t>
            </a:r>
            <a:endParaRPr lang="en-US" sz="4200" dirty="0"/>
          </a:p>
        </p:txBody>
      </p:sp>
      <p:sp>
        <p:nvSpPr>
          <p:cNvPr id="14" name="Text 11"/>
          <p:cNvSpPr txBox="1"/>
          <p:nvPr/>
        </p:nvSpPr>
        <p:spPr>
          <a:xfrm>
            <a:off x="8380476" y="36118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default rate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loan_status  (1 = defaulted, 0 = repaid)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kaggle.com/datasets/laotse/credit-risk-dataset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5EC8A6"/>
          </a:solidFill>
          <a:ln/>
        </p:spPr>
      </p:sp>
      <p:pic>
        <p:nvPicPr>
          <p:cNvPr id="3" name="Image 0" descr="icons/issue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6784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3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Issues Identified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10881360" cy="1234440"/>
          </a:xfrm>
          <a:prstGeom prst="roundRect">
            <a:avLst>
              <a:gd name="adj" fmla="val 11852"/>
            </a:avLst>
          </a:prstGeom>
          <a:solidFill>
            <a:srgbClr val="FBE4E9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5EC8A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C6B9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Missing values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2286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loan_int_rate: 9.56% missing  •  person_emp_length: 2.75% missing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1088136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9050">
            <a:solidFill>
              <a:srgbClr val="F3B8C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520440"/>
            <a:ext cx="594360" cy="594360"/>
          </a:xfrm>
          <a:prstGeom prst="ellipse">
            <a:avLst/>
          </a:prstGeom>
          <a:solidFill>
            <a:srgbClr val="5EC8A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69164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C6B9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Duplicate rows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691640" y="3749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 exact duplicate records found in the raw data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4663440"/>
            <a:ext cx="10881360" cy="1234440"/>
          </a:xfrm>
          <a:prstGeom prst="roundRect">
            <a:avLst>
              <a:gd name="adj" fmla="val 11852"/>
            </a:avLst>
          </a:prstGeom>
          <a:solidFill>
            <a:srgbClr val="FBE4E9"/>
          </a:solidFill>
          <a:ln/>
        </p:spPr>
      </p:sp>
      <p:sp>
        <p:nvSpPr>
          <p:cNvPr id="16" name="Shape 13"/>
          <p:cNvSpPr/>
          <p:nvPr/>
        </p:nvSpPr>
        <p:spPr>
          <a:xfrm>
            <a:off x="868680" y="4983480"/>
            <a:ext cx="594360" cy="594360"/>
          </a:xfrm>
          <a:prstGeom prst="ellipse">
            <a:avLst/>
          </a:prstGeom>
          <a:solidFill>
            <a:srgbClr val="5EC8A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8680" y="4983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691640" y="4800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C6B9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Unrealistic outliers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691640" y="5212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person_age up to 144 years  •  person_emp_length up to 123 years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5EC8A6"/>
          </a:solidFill>
          <a:ln/>
        </p:spPr>
      </p:sp>
      <p:pic>
        <p:nvPicPr>
          <p:cNvPr id="3" name="Image 0" descr="icons/preprocess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6784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3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Cleaning &amp; Preprocessing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22376" y="1828800"/>
            <a:ext cx="3429000" cy="1965960"/>
          </a:xfrm>
          <a:prstGeom prst="roundRect">
            <a:avLst>
              <a:gd name="adj" fmla="val 7442"/>
            </a:avLst>
          </a:prstGeom>
          <a:solidFill>
            <a:srgbClr val="FBE4E9"/>
          </a:solidFill>
          <a:ln/>
        </p:spPr>
      </p:sp>
      <p:sp>
        <p:nvSpPr>
          <p:cNvPr id="6" name="Shape 3"/>
          <p:cNvSpPr/>
          <p:nvPr/>
        </p:nvSpPr>
        <p:spPr>
          <a:xfrm>
            <a:off x="996696" y="2103120"/>
            <a:ext cx="548640" cy="548640"/>
          </a:xfrm>
          <a:prstGeom prst="ellipse">
            <a:avLst/>
          </a:prstGeom>
          <a:solidFill>
            <a:srgbClr val="9C6B9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9669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50976" y="2788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values (median)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79976" y="1828800"/>
            <a:ext cx="3429000" cy="1965960"/>
          </a:xfrm>
          <a:prstGeom prst="roundRect">
            <a:avLst>
              <a:gd name="adj" fmla="val 7442"/>
            </a:avLst>
          </a:prstGeom>
          <a:solidFill>
            <a:srgbClr val="FBE4E9"/>
          </a:solidFill>
          <a:ln/>
        </p:spPr>
      </p:sp>
      <p:sp>
        <p:nvSpPr>
          <p:cNvPr id="10" name="Shape 7"/>
          <p:cNvSpPr/>
          <p:nvPr/>
        </p:nvSpPr>
        <p:spPr>
          <a:xfrm>
            <a:off x="4654296" y="2103120"/>
            <a:ext cx="548640" cy="548640"/>
          </a:xfrm>
          <a:prstGeom prst="ellipse">
            <a:avLst/>
          </a:prstGeom>
          <a:solidFill>
            <a:srgbClr val="9C6B9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5429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608576" y="2788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165 duplicate rows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37576" y="1828800"/>
            <a:ext cx="3429000" cy="1965960"/>
          </a:xfrm>
          <a:prstGeom prst="roundRect">
            <a:avLst>
              <a:gd name="adj" fmla="val 7442"/>
            </a:avLst>
          </a:prstGeom>
          <a:solidFill>
            <a:srgbClr val="FBE4E9"/>
          </a:solidFill>
          <a:ln/>
        </p:spPr>
      </p:sp>
      <p:sp>
        <p:nvSpPr>
          <p:cNvPr id="14" name="Shape 11"/>
          <p:cNvSpPr/>
          <p:nvPr/>
        </p:nvSpPr>
        <p:spPr>
          <a:xfrm>
            <a:off x="8311896" y="2103120"/>
            <a:ext cx="548640" cy="548640"/>
          </a:xfrm>
          <a:prstGeom prst="ellipse">
            <a:avLst/>
          </a:prstGeom>
          <a:solidFill>
            <a:srgbClr val="9C6B9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1189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66176" y="2788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unrealistic outliers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22376" y="4114800"/>
            <a:ext cx="3429000" cy="1965960"/>
          </a:xfrm>
          <a:prstGeom prst="roundRect">
            <a:avLst>
              <a:gd name="adj" fmla="val 7442"/>
            </a:avLst>
          </a:prstGeom>
          <a:solidFill>
            <a:srgbClr val="FBE4E9"/>
          </a:solidFill>
          <a:ln/>
        </p:spPr>
      </p:sp>
      <p:sp>
        <p:nvSpPr>
          <p:cNvPr id="18" name="Shape 15"/>
          <p:cNvSpPr/>
          <p:nvPr/>
        </p:nvSpPr>
        <p:spPr>
          <a:xfrm>
            <a:off x="996696" y="4389120"/>
            <a:ext cx="548640" cy="548640"/>
          </a:xfrm>
          <a:prstGeom prst="ellipse">
            <a:avLst/>
          </a:prstGeom>
          <a:solidFill>
            <a:srgbClr val="9C6B9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96696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50976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categories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79976" y="4114800"/>
            <a:ext cx="3429000" cy="1965960"/>
          </a:xfrm>
          <a:prstGeom prst="roundRect">
            <a:avLst>
              <a:gd name="adj" fmla="val 7442"/>
            </a:avLst>
          </a:prstGeom>
          <a:solidFill>
            <a:srgbClr val="FBE4E9"/>
          </a:solidFill>
          <a:ln/>
        </p:spPr>
      </p:sp>
      <p:sp>
        <p:nvSpPr>
          <p:cNvPr id="22" name="Shape 19"/>
          <p:cNvSpPr/>
          <p:nvPr/>
        </p:nvSpPr>
        <p:spPr>
          <a:xfrm>
            <a:off x="4654296" y="4389120"/>
            <a:ext cx="548640" cy="548640"/>
          </a:xfrm>
          <a:prstGeom prst="ellipse">
            <a:avLst/>
          </a:prstGeom>
          <a:solidFill>
            <a:srgbClr val="9C6B9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654296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4608576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 (Standard­Scaler)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037576" y="4114800"/>
            <a:ext cx="3429000" cy="1965960"/>
          </a:xfrm>
          <a:prstGeom prst="roundRect">
            <a:avLst>
              <a:gd name="adj" fmla="val 7442"/>
            </a:avLst>
          </a:prstGeom>
          <a:solidFill>
            <a:srgbClr val="FBE4E9"/>
          </a:solidFill>
          <a:ln/>
        </p:spPr>
      </p:sp>
      <p:sp>
        <p:nvSpPr>
          <p:cNvPr id="26" name="Shape 23"/>
          <p:cNvSpPr/>
          <p:nvPr/>
        </p:nvSpPr>
        <p:spPr>
          <a:xfrm>
            <a:off x="8311896" y="4389120"/>
            <a:ext cx="548640" cy="548640"/>
          </a:xfrm>
          <a:prstGeom prst="ellipse">
            <a:avLst/>
          </a:prstGeom>
          <a:solidFill>
            <a:srgbClr val="9C6B9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311896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8266176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 / 20 train-test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5EC8A6"/>
          </a:solidFill>
          <a:ln/>
        </p:spPr>
      </p:sp>
      <p:pic>
        <p:nvPicPr>
          <p:cNvPr id="3" name="Image 0" descr="icons/pca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6784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3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Dimensionality Reduction (PCA)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combines the 22 scaled features into fewer, uncorrelated components — each one capturing as much of the data's variation as possible.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3017520"/>
            <a:ext cx="4480560" cy="1737360"/>
          </a:xfrm>
          <a:prstGeom prst="roundRect">
            <a:avLst>
              <a:gd name="adj" fmla="val 9474"/>
            </a:avLst>
          </a:prstGeom>
          <a:solidFill>
            <a:srgbClr val="FBE4E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3154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C6B9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 of 22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931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retain 95.3% of total variance</a:t>
            </a:r>
            <a:endParaRPr lang="en-US" sz="13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303520" y="1371600"/>
          <a:ext cx="64008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5EC8A6"/>
          </a:solidFill>
          <a:ln/>
        </p:spPr>
      </p:sp>
      <p:pic>
        <p:nvPicPr>
          <p:cNvPr id="3" name="Image 0" descr="icons/befor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6784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3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 Comparison — Original Features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097280" y="1554480"/>
          <a:ext cx="80467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9418320" y="2194560"/>
            <a:ext cx="2194560" cy="2377440"/>
          </a:xfrm>
          <a:prstGeom prst="roundRect">
            <a:avLst>
              <a:gd name="adj" fmla="val 7500"/>
            </a:avLst>
          </a:prstGeom>
          <a:solidFill>
            <a:srgbClr val="9C6B98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960120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9601200" y="2788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Decision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Tree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9601200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C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0.754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5EC8A6"/>
          </a:solidFill>
          <a:ln/>
        </p:spPr>
      </p:sp>
      <p:pic>
        <p:nvPicPr>
          <p:cNvPr id="3" name="Image 0" descr="icons/aft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6784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3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 Comparison — Before vs After PCA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554480"/>
          <a:ext cx="106984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drops the most after PCA (0.754 → 0.664) — trees split on individual features, so combining features into components costs it signal. Logistic Regression and kNN barely move.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5EC8A6"/>
          </a:solidFill>
          <a:ln/>
        </p:spPr>
      </p:sp>
      <p:pic>
        <p:nvPicPr>
          <p:cNvPr id="3" name="Image 0" descr="icons/tu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6784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2E3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Hyperparameter Tuning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tuned the Decision Tree (the strongest model) on the original scaled features.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14400" y="2286000"/>
            <a:ext cx="3200400" cy="2011680"/>
          </a:xfrm>
          <a:prstGeom prst="roundRect">
            <a:avLst>
              <a:gd name="adj" fmla="val 8182"/>
            </a:avLst>
          </a:prstGeom>
          <a:solidFill>
            <a:srgbClr val="FBE4E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TUNING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8346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C6B9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0.754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27889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C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11" name="Shape 8"/>
          <p:cNvSpPr/>
          <p:nvPr/>
        </p:nvSpPr>
        <p:spPr>
          <a:xfrm>
            <a:off x="5212080" y="2286000"/>
            <a:ext cx="3200400" cy="2011680"/>
          </a:xfrm>
          <a:prstGeom prst="roundRect">
            <a:avLst>
              <a:gd name="adj" fmla="val 8182"/>
            </a:avLst>
          </a:prstGeom>
          <a:solidFill>
            <a:srgbClr val="9C6B9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21208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TUNING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212080" y="28346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EC8A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0.814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521208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778240" y="2286000"/>
            <a:ext cx="283464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9050">
            <a:solidFill>
              <a:srgbClr val="F3B8C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0684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6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28346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 10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min_samples_leaf: 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min_samples_split: 10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gini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Bias–variance impact: the untuned tree (no depth limit) overfit — low bias, high variance. Constraining depth and leaf size trades a touch of bias for a big drop in variance, so it generalises better to unseen applicants.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9C6B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274320"/>
            <a:ext cx="1463040" cy="14630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4389120"/>
            <a:ext cx="2011680" cy="20116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5120640"/>
            <a:ext cx="1828800" cy="18288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-548640"/>
            <a:ext cx="1188720" cy="118872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5EC8A6"/>
          </a:solidFill>
          <a:ln/>
        </p:spPr>
      </p:sp>
      <p:pic>
        <p:nvPicPr>
          <p:cNvPr id="7" name="Image 0" descr="icons/conclusi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67848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Conclusion &amp; Insights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5EC8A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19202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Decision Tree is the strongest model — F1-score of 0.814 on unseen applicants.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822960" y="3108960"/>
            <a:ext cx="502920" cy="502920"/>
          </a:xfrm>
          <a:prstGeom prst="ellipse">
            <a:avLst/>
          </a:prstGeom>
          <a:solidFill>
            <a:srgbClr val="5EC8A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30632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compresses the data well (17 components, 95%+ variance) but costs the tree some accuracy — dimensionality reduction isn't automatically better.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5EC8A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2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554480" y="42062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the tuned model in place of the fixed rulebook should directly cut both false approvals and false rejections.</a:t>
            </a:r>
            <a:endParaRPr lang="en-US" sz="15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EC8A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you! Questions welcome.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2026-09-15T08:36:38Z</dcterms:created>
  <dcterms:modified xsi:type="dcterms:W3CDTF">2026-09-15T08:36:38Z</dcterms:modified>
</cp:coreProperties>
</file>